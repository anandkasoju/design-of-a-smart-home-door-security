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73" r:id="rId3"/>
    <p:sldId id="297" r:id="rId4"/>
    <p:sldId id="259" r:id="rId5"/>
    <p:sldId id="258" r:id="rId6"/>
    <p:sldId id="298" r:id="rId7"/>
    <p:sldId id="299" r:id="rId8"/>
    <p:sldId id="276" r:id="rId9"/>
    <p:sldId id="290" r:id="rId10"/>
    <p:sldId id="291" r:id="rId11"/>
    <p:sldId id="300" r:id="rId12"/>
    <p:sldId id="292" r:id="rId13"/>
    <p:sldId id="263" r:id="rId14"/>
    <p:sldId id="294" r:id="rId15"/>
    <p:sldId id="293" r:id="rId16"/>
    <p:sldId id="296" r:id="rId17"/>
    <p:sldId id="295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BD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03034-4A67-49B0-95AC-90F87F8F2F50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54750-D658-4579-9594-CB4948B09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227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834EC-DF8D-F053-C636-2A8AAB598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43277-A086-FBEA-7486-271097AA1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20F28-DAB6-8AE9-65AF-21A77E18F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9399-7EE2-463A-ACEA-4AE50F176349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59816-2F25-8E52-4D4D-432EB772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6C08A-7A47-B656-00B7-F1322C7CE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A0E3F-B6CD-4EF2-ADED-A71AB36BE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501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73B0-FE5F-4CA6-E290-874A441DC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E7147-F978-9F31-BC64-82784D8E3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48C1A-3A75-B152-744D-AEEED0956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8E8BA-E727-453C-B8E3-5265A3499E84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028C0-7552-91AC-D134-6E8984770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AA156-560A-91AB-A381-6CD49FF9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A0E3F-B6CD-4EF2-ADED-A71AB36BE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045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8984-18F7-6726-09E1-1B0EC75E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00C1C-FFE1-0451-56FE-B7A00D20A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DFCA-81BC-E18D-E83E-75271409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C63B-E36A-467F-B397-12CC0B27B5BB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DA05B-5652-8EA1-D7DF-4B23CC0C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C8A5E-12BB-23E3-A73B-B726DB20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A0E3F-B6CD-4EF2-ADED-A71AB36BE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835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810A-73E4-F759-FEFE-8E3E38CE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720B-B357-3D11-DC7F-B27DF8F09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DB0BA-2C9C-B663-03A5-FEDFA5540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3F4D7-AD7B-8022-70DF-2AAD2D97F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18B42-95CF-4BE6-A47F-84CC2BA9509A}" type="datetime1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D1BBF-0906-2B12-0D7D-78B2E524C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5F12D-2DD8-BE96-AB2A-D624EAF5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A0E3F-B6CD-4EF2-ADED-A71AB36BE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494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63A2-8837-656A-6B88-F07F763C2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9F8C7-49D3-32D7-49D8-114696FBC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A7AFA-03F0-BFC3-422B-7FDBABD0B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52C6B2-8BA2-49C3-3CCD-42ED1006C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C9DFA-8CF0-3E1B-D603-74F5DA897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05DA18-38A8-A140-3C04-14EFBB68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C145-C951-4246-A4F7-7C25A406C704}" type="datetime1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190624-AABC-3F1D-EE4C-642B1C8D4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536E3-0A24-34F5-31DE-6BC3AF7E9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A0E3F-B6CD-4EF2-ADED-A71AB36BE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89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E385-F53C-7823-63C8-6A139CB1B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C1051-5BC8-9D15-3F5C-7C38C7BF3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FDC61-F60C-4341-B766-1526D14052FD}" type="datetime1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DDED-0E14-571F-8029-4A09AC415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7B14B8-AB10-C752-9557-88B506397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A0E3F-B6CD-4EF2-ADED-A71AB36BE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43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78822A-6D8F-81B6-EB76-B1B381ABF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E8B6A-7B08-426C-8CD0-B6C15C10B49F}" type="datetime1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6C71F8-8A7C-0675-A759-77F11426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792C4-6833-6480-5335-20910C45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A0E3F-B6CD-4EF2-ADED-A71AB36BE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393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39DC9-37B8-346C-5640-F789722B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93CF8-15BC-0CEB-04F2-8D2495052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C3DEC-E4E1-4728-152C-2721F9C6D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B2220-7CFB-7691-25C4-FFF03F74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387D6-1B29-4ACE-A737-510607D8DA01}" type="datetime1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79750-BD95-24CD-E8F8-5AD12744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5F14B-8F5D-0ECC-006B-E0C55432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A0E3F-B6CD-4EF2-ADED-A71AB36BE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40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5045A-D161-44C6-09C1-866590A94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2A8A0B-16DD-881D-5C8B-252610760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75D4E-853D-7E5E-67CA-E5C8654B0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90DD9-4C1D-ED60-ED61-4DD37992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38D7A-1DF8-4D3D-94B3-736CFE167EF9}" type="datetime1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31BB9-E20D-CD86-6C7F-6217DFA8F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E9AFE-8F07-4E39-CE88-B6388572D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A0E3F-B6CD-4EF2-ADED-A71AB36BE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534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FB96-F712-45F1-4E97-A077AC59D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603D3-8BF2-200A-9516-A907F6DF6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68B90-14E7-AE19-CD1A-A41F7BEA7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5AC3-FC63-4487-B797-3E247DDC2BBD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514B5-9B4B-1968-CBBE-4A567259F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D2450-FD4D-9387-485A-A5A080B5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A0E3F-B6CD-4EF2-ADED-A71AB36BE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55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DF6F0C-2BB9-2622-CC88-E83F4857AF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2094B-9DA2-E81D-0897-1E3A0D88F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61742-09F3-5514-FA75-608D08F5B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B4DB-AE07-45D1-9198-98B0F718851C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0311C-FC3B-8DF1-2C1B-43A5E5283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1165A-CA68-41B1-B660-F7EEA2AEF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A0E3F-B6CD-4EF2-ADED-A71AB36BE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00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8C189C-8FC0-CBB4-C987-8310429B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9354C-C045-7766-04E4-F5B94F79E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6872C-32D8-6BF4-C806-AC054A3EB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91779-D575-4EA5-BE5D-E9EED0C2D028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73291-679B-1D4E-65A7-4FD96C6CCA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59F08-481E-6259-8233-C3DCEE33D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A0E3F-B6CD-4EF2-ADED-A71AB36BE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6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C1AC42-C437-29B4-45F4-C1759427BD1D}"/>
              </a:ext>
            </a:extLst>
          </p:cNvPr>
          <p:cNvSpPr txBox="1">
            <a:spLocks/>
          </p:cNvSpPr>
          <p:nvPr/>
        </p:nvSpPr>
        <p:spPr>
          <a:xfrm>
            <a:off x="838200" y="1527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CMR Technical Campus</a:t>
            </a:r>
          </a:p>
          <a:p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  <a:endParaRPr lang="en-IN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057A1F-1211-C5E9-64ED-3391934353D0}"/>
              </a:ext>
            </a:extLst>
          </p:cNvPr>
          <p:cNvSpPr txBox="1"/>
          <p:nvPr/>
        </p:nvSpPr>
        <p:spPr>
          <a:xfrm>
            <a:off x="117986" y="2382176"/>
            <a:ext cx="11956025" cy="37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87"/>
              </a:lnSpc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Oriented Mini Project 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82E6E5-1978-A197-83B0-0A1657A4A602}"/>
              </a:ext>
            </a:extLst>
          </p:cNvPr>
          <p:cNvSpPr txBox="1"/>
          <p:nvPr/>
        </p:nvSpPr>
        <p:spPr>
          <a:xfrm>
            <a:off x="117985" y="2760613"/>
            <a:ext cx="119560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 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a Smart Home Door Security System with Face Detection and Smart Bell using ESP32- CAM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61E62-D899-0C45-03D4-81766E6F2F7C}"/>
              </a:ext>
            </a:extLst>
          </p:cNvPr>
          <p:cNvSpPr txBox="1"/>
          <p:nvPr/>
        </p:nvSpPr>
        <p:spPr>
          <a:xfrm>
            <a:off x="117985" y="3946225"/>
            <a:ext cx="373737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Coordinator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000" b="1" dirty="0">
                <a:solidFill>
                  <a:srgbClr val="202354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Dr </a:t>
            </a:r>
            <a:r>
              <a:rPr lang="en-US" sz="2000" b="1" dirty="0" err="1">
                <a:solidFill>
                  <a:srgbClr val="202354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Mantesh</a:t>
            </a:r>
            <a:r>
              <a:rPr lang="en-US" sz="2000" b="1" dirty="0">
                <a:solidFill>
                  <a:srgbClr val="202354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Patil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Associate Professor</a:t>
            </a:r>
          </a:p>
          <a:p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 </a:t>
            </a:r>
          </a:p>
          <a:p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</a:t>
            </a:r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J </a:t>
            </a:r>
            <a:r>
              <a:rPr lang="en-IN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Narasimharao</a:t>
            </a:r>
            <a:endParaRPr lang="en-US" sz="20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Associate Professor</a:t>
            </a:r>
          </a:p>
          <a:p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045A40-4D86-B61C-21C6-4FF8242C5FDE}"/>
              </a:ext>
            </a:extLst>
          </p:cNvPr>
          <p:cNvSpPr txBox="1"/>
          <p:nvPr/>
        </p:nvSpPr>
        <p:spPr>
          <a:xfrm>
            <a:off x="4615138" y="3946225"/>
            <a:ext cx="74430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06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No: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237R1A05R6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Name: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Yarra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Harshini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No: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237R1A05K4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Name: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Anand Kasoju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No: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247R5A0521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Name: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Agidi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Akshitha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719CEF1A-00A7-C624-61C7-0DDEE8EC6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7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611F95-0353-5164-BB34-0FDFC27D75C9}"/>
              </a:ext>
            </a:extLst>
          </p:cNvPr>
          <p:cNvSpPr txBox="1"/>
          <p:nvPr/>
        </p:nvSpPr>
        <p:spPr>
          <a:xfrm>
            <a:off x="3048760" y="1392410"/>
            <a:ext cx="6094476" cy="842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13"/>
              </a:lnSpc>
            </a:pP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Kandlakoya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Medchal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Road,Hyd-501 401 Department of Computer Science Engineering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5385202-8A52-DA6C-EE05-3CB372AB0567}"/>
              </a:ext>
            </a:extLst>
          </p:cNvPr>
          <p:cNvSpPr/>
          <p:nvPr/>
        </p:nvSpPr>
        <p:spPr>
          <a:xfrm>
            <a:off x="10789920" y="55091"/>
            <a:ext cx="1402080" cy="1115341"/>
          </a:xfrm>
          <a:custGeom>
            <a:avLst/>
            <a:gdLst/>
            <a:ahLst/>
            <a:cxnLst/>
            <a:rect l="l" t="t" r="r" b="b"/>
            <a:pathLst>
              <a:path w="3271482" h="2800301">
                <a:moveTo>
                  <a:pt x="0" y="0"/>
                </a:moveTo>
                <a:lnTo>
                  <a:pt x="3271482" y="0"/>
                </a:lnTo>
                <a:lnTo>
                  <a:pt x="3271482" y="2800301"/>
                </a:lnTo>
                <a:lnTo>
                  <a:pt x="0" y="2800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28" r="-7501"/>
            </a:stretch>
          </a:blipFill>
        </p:spPr>
        <p:txBody>
          <a:bodyPr/>
          <a:lstStyle/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709023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168D-359C-1F1A-2136-8C54AF96F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28" y="1112556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4FF41-D730-A6DC-5E2A-0439C8D9C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" y="2177733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quality education and a conducive learning environment in computer engineering that foster critical thinking, creativity, and practical problem-solving skills.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 educate the students in fundamental principles of computing and induce the skills needed to solve practical problems.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 provide State-of-the-art computing laboratory facilities to promote industry-institute interaction to enhance student’s practical knowledge.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To Inculcate self-learning abilities, team spirit, and professional ethics among the students to serve society.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42537A0-DCEB-C93E-DD8D-89D1D844E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B71459E-E5E6-9554-F57D-526FD531CDE3}"/>
              </a:ext>
            </a:extLst>
          </p:cNvPr>
          <p:cNvSpPr txBox="1">
            <a:spLocks/>
          </p:cNvSpPr>
          <p:nvPr/>
        </p:nvSpPr>
        <p:spPr>
          <a:xfrm>
            <a:off x="35034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VISION AND MISSION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281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15F9D-1109-5709-355F-94311E214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B407E-4F94-FE59-E3F1-366580626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3B8F9-2EF0-92AD-7196-92653D841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77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definition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1B5B82D2-7854-CC73-F42B-CA9A67317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74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1ADCE-45F7-9373-BC67-1EE1B7F6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DEFINITION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84060-FEEB-9E80-1751-0FF16C775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066"/>
            <a:ext cx="10515600" cy="4486275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Home Door Security System with Face Detection and Smart Bell using ESP32-CAM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IoT-based embedded security system designed to enhance home safety by automatically detecting and monitoring visitors at the door. The system uses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ESP32-CAM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integrates a microcontroller, camera, and Wi-Fi connectivity, to capture images of visitors when motion is detected or when the doorbell is pressed.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captured image is processed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detection algorithms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then transmitted through a wireless network to the homeowner’s mobile device or cloud platform. This allows the user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remotely monitor visitors, verify identities, and receive real-time alerts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improving both convenience and security.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systems, computer vision, and Internet of Things (IoT) technologies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low-cost, compact, and intelligent alternative to traditional doorbells and CCTV-based security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2E980A7-41E1-8E14-FB7B-0F32ADEA0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420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1ADCE-45F7-9373-BC67-1EE1B7F6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2E980A7-41E1-8E14-FB7B-0F32ADEA0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E45CE66F-3D41-B3FE-CB2C-DA4357094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744" y="1370864"/>
            <a:ext cx="1073505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smart door security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the ESP32-CAM module for modern home security.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face detection technology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can detect and capture the image of a person approaching the door.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alerts to the homeowner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Wi-Fi communication when a visitor arrives or presses the doorbell.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a smart doorbell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captures images automatically when the bell is pressed.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 low-cost and energy-efficient security solution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smart home applications.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remote monitoring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 that the homeowner can view visitor images from anywhere using a mobile device or cloud platform.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safety and convenience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reducing the need for manual monitoring and traditional door security systems.</a:t>
            </a:r>
          </a:p>
        </p:txBody>
      </p:sp>
    </p:spTree>
    <p:extLst>
      <p:ext uri="{BB962C8B-B14F-4D97-AF65-F5344CB8AC3E}">
        <p14:creationId xmlns:p14="http://schemas.microsoft.com/office/powerpoint/2010/main" val="299290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E3DF8-9AE3-66A6-B8EF-F1F6E479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F98BEA1-2884-C385-674A-EB36F6F382AF}"/>
              </a:ext>
            </a:extLst>
          </p:cNvPr>
          <p:cNvSpPr txBox="1"/>
          <p:nvPr/>
        </p:nvSpPr>
        <p:spPr>
          <a:xfrm>
            <a:off x="611847" y="161604"/>
            <a:ext cx="6097712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04BDE259-734D-DD3F-F51F-8EF389084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6D9396-CC3E-23D9-3753-6139FA310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055390"/>
              </p:ext>
            </p:extLst>
          </p:nvPr>
        </p:nvGraphicFramePr>
        <p:xfrm>
          <a:off x="368526" y="1248057"/>
          <a:ext cx="11454947" cy="53291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36421">
                  <a:extLst>
                    <a:ext uri="{9D8B030D-6E8A-4147-A177-3AD203B41FA5}">
                      <a16:colId xmlns:a16="http://schemas.microsoft.com/office/drawing/2014/main" val="1894143139"/>
                    </a:ext>
                  </a:extLst>
                </a:gridCol>
                <a:gridCol w="1636421">
                  <a:extLst>
                    <a:ext uri="{9D8B030D-6E8A-4147-A177-3AD203B41FA5}">
                      <a16:colId xmlns:a16="http://schemas.microsoft.com/office/drawing/2014/main" val="1730173705"/>
                    </a:ext>
                  </a:extLst>
                </a:gridCol>
                <a:gridCol w="1636421">
                  <a:extLst>
                    <a:ext uri="{9D8B030D-6E8A-4147-A177-3AD203B41FA5}">
                      <a16:colId xmlns:a16="http://schemas.microsoft.com/office/drawing/2014/main" val="3627909580"/>
                    </a:ext>
                  </a:extLst>
                </a:gridCol>
                <a:gridCol w="1636421">
                  <a:extLst>
                    <a:ext uri="{9D8B030D-6E8A-4147-A177-3AD203B41FA5}">
                      <a16:colId xmlns:a16="http://schemas.microsoft.com/office/drawing/2014/main" val="3145394421"/>
                    </a:ext>
                  </a:extLst>
                </a:gridCol>
                <a:gridCol w="1636421">
                  <a:extLst>
                    <a:ext uri="{9D8B030D-6E8A-4147-A177-3AD203B41FA5}">
                      <a16:colId xmlns:a16="http://schemas.microsoft.com/office/drawing/2014/main" val="2234630609"/>
                    </a:ext>
                  </a:extLst>
                </a:gridCol>
                <a:gridCol w="1636421">
                  <a:extLst>
                    <a:ext uri="{9D8B030D-6E8A-4147-A177-3AD203B41FA5}">
                      <a16:colId xmlns:a16="http://schemas.microsoft.com/office/drawing/2014/main" val="2730219832"/>
                    </a:ext>
                  </a:extLst>
                </a:gridCol>
                <a:gridCol w="1636421">
                  <a:extLst>
                    <a:ext uri="{9D8B030D-6E8A-4147-A177-3AD203B41FA5}">
                      <a16:colId xmlns:a16="http://schemas.microsoft.com/office/drawing/2014/main" val="2721681697"/>
                    </a:ext>
                  </a:extLst>
                </a:gridCol>
              </a:tblGrid>
              <a:tr h="258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/ System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Offline?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Multi-Modal?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443871"/>
                  </a:ext>
                </a:extLst>
              </a:tr>
              <a:tr h="590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Door Lock System Using Face Recognition and IoT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recognition + IoT monitoring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only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resources, hard for low-cost devices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348897"/>
                  </a:ext>
                </a:extLst>
              </a:tr>
              <a:tr h="590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Home Security System Using ESP32-CAM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ESP32-CAM video streaming + motion detection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 only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full face detection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419853"/>
                  </a:ext>
                </a:extLst>
              </a:tr>
              <a:tr h="700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Recognition-Based Smart Security System for Smart Homes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 face recognition + door control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only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external processing unit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898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554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470CE-1ADA-C8CE-2744-0423F2E14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0068F6-6DBD-7B11-E22D-E641BA471F26}"/>
              </a:ext>
            </a:extLst>
          </p:cNvPr>
          <p:cNvSpPr txBox="1"/>
          <p:nvPr/>
        </p:nvSpPr>
        <p:spPr>
          <a:xfrm>
            <a:off x="611847" y="161604"/>
            <a:ext cx="6097712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A2EE3647-1509-32E0-F287-06E0D44EB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6536" y="0"/>
            <a:ext cx="1045464" cy="98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60E8C1-CC10-D262-711B-47F12862D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090842"/>
              </p:ext>
            </p:extLst>
          </p:nvPr>
        </p:nvGraphicFramePr>
        <p:xfrm>
          <a:off x="370332" y="919687"/>
          <a:ext cx="11451335" cy="5775568"/>
        </p:xfrm>
        <a:graphic>
          <a:graphicData uri="http://schemas.openxmlformats.org/drawingml/2006/table">
            <a:tbl>
              <a:tblPr/>
              <a:tblGrid>
                <a:gridCol w="1635905">
                  <a:extLst>
                    <a:ext uri="{9D8B030D-6E8A-4147-A177-3AD203B41FA5}">
                      <a16:colId xmlns:a16="http://schemas.microsoft.com/office/drawing/2014/main" val="2475708052"/>
                    </a:ext>
                  </a:extLst>
                </a:gridCol>
                <a:gridCol w="1635905">
                  <a:extLst>
                    <a:ext uri="{9D8B030D-6E8A-4147-A177-3AD203B41FA5}">
                      <a16:colId xmlns:a16="http://schemas.microsoft.com/office/drawing/2014/main" val="1792417684"/>
                    </a:ext>
                  </a:extLst>
                </a:gridCol>
                <a:gridCol w="1635905">
                  <a:extLst>
                    <a:ext uri="{9D8B030D-6E8A-4147-A177-3AD203B41FA5}">
                      <a16:colId xmlns:a16="http://schemas.microsoft.com/office/drawing/2014/main" val="4105570671"/>
                    </a:ext>
                  </a:extLst>
                </a:gridCol>
                <a:gridCol w="1635905">
                  <a:extLst>
                    <a:ext uri="{9D8B030D-6E8A-4147-A177-3AD203B41FA5}">
                      <a16:colId xmlns:a16="http://schemas.microsoft.com/office/drawing/2014/main" val="2151948270"/>
                    </a:ext>
                  </a:extLst>
                </a:gridCol>
                <a:gridCol w="1635905">
                  <a:extLst>
                    <a:ext uri="{9D8B030D-6E8A-4147-A177-3AD203B41FA5}">
                      <a16:colId xmlns:a16="http://schemas.microsoft.com/office/drawing/2014/main" val="2487172376"/>
                    </a:ext>
                  </a:extLst>
                </a:gridCol>
                <a:gridCol w="1635905">
                  <a:extLst>
                    <a:ext uri="{9D8B030D-6E8A-4147-A177-3AD203B41FA5}">
                      <a16:colId xmlns:a16="http://schemas.microsoft.com/office/drawing/2014/main" val="427953148"/>
                    </a:ext>
                  </a:extLst>
                </a:gridCol>
                <a:gridCol w="1635905">
                  <a:extLst>
                    <a:ext uri="{9D8B030D-6E8A-4147-A177-3AD203B41FA5}">
                      <a16:colId xmlns:a16="http://schemas.microsoft.com/office/drawing/2014/main" val="3468246060"/>
                    </a:ext>
                  </a:extLst>
                </a:gridCol>
              </a:tblGrid>
              <a:tr h="483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/ System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Offline?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Multi-Modal?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026374"/>
                  </a:ext>
                </a:extLst>
              </a:tr>
              <a:tr h="1622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Doorbell System with Image Capture and Mobile Notification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 capture + mobile alert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only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face recognition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616318"/>
                  </a:ext>
                </a:extLst>
              </a:tr>
              <a:tr h="1850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Embedded Face Detection System Using ESP32-CAM for Access Control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detection on ESP32-CAM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only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memory &amp; processing power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737880"/>
                  </a:ext>
                </a:extLst>
              </a:tr>
              <a:tr h="1166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Door Lock Using ESP32-CAM with Face Detection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ESP32-CAM + Face detection + IoT alert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+ IoT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 identified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36876" marR="36876" marT="18438" marB="18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645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054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F3E61F-BB8F-EC97-F758-1AD4E85EAC75}"/>
              </a:ext>
            </a:extLst>
          </p:cNvPr>
          <p:cNvSpPr txBox="1"/>
          <p:nvPr/>
        </p:nvSpPr>
        <p:spPr>
          <a:xfrm>
            <a:off x="830844" y="1248057"/>
            <a:ext cx="106981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designed to enhance home security using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ESP32-CAM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integrates a microcontroller, camera, and Wi-Fi connectivity. The methodology focuses on detecting visitors at the door, capturing their image, and sending real-time notifications to the homeowner.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71E7C-2069-74E5-77E4-2EEE58776350}"/>
              </a:ext>
            </a:extLst>
          </p:cNvPr>
          <p:cNvSpPr txBox="1"/>
          <p:nvPr/>
        </p:nvSpPr>
        <p:spPr>
          <a:xfrm>
            <a:off x="838199" y="476541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5B7EEF97-74DA-2178-DC6E-044600AA9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311713-583C-7FB9-93E8-1F43C530C51A}"/>
              </a:ext>
            </a:extLst>
          </p:cNvPr>
          <p:cNvSpPr txBox="1"/>
          <p:nvPr/>
        </p:nvSpPr>
        <p:spPr>
          <a:xfrm>
            <a:off x="838199" y="3085506"/>
            <a:ext cx="1069812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System Setup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ESP32-CAM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doorbell switch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communication network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ESP32-CAM acts as the main controller and image processing unit.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Visitor Detection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person approaches the door or presses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doorbell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activates the camera module. This triggers the ESP32-CAM to start capturing an image of the visitor.</a:t>
            </a:r>
          </a:p>
        </p:txBody>
      </p:sp>
    </p:spTree>
    <p:extLst>
      <p:ext uri="{BB962C8B-B14F-4D97-AF65-F5344CB8AC3E}">
        <p14:creationId xmlns:p14="http://schemas.microsoft.com/office/powerpoint/2010/main" val="2029241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3D91E-E50B-4D06-3348-DF1C0279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3094FD-70B7-55FF-9BDF-8EA1F0B217CD}"/>
              </a:ext>
            </a:extLst>
          </p:cNvPr>
          <p:cNvSpPr txBox="1"/>
          <p:nvPr/>
        </p:nvSpPr>
        <p:spPr>
          <a:xfrm>
            <a:off x="830844" y="314026"/>
            <a:ext cx="1069812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Image Capture and Face Detection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ESP32-CAM captures the image and processes it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detection algorithms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system checks whether a human face is present in the captured image.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Transmission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 face is detected, the captured image is transmitted through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network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homeowner’s mobile device or cloud platform.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Real-Time Notification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homeowner receives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along with the visitor’s image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them to identify the person at the door remotely.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Remote Monitoring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homeowner can view the visitor’s image and decide whether to respond or grant access. This provides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monitoring and improved home security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System Advantages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methodology provides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low-cost, compact, and efficient smart security solution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combining embedded systems, IoT communication, and face detection technology.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E362727D-F543-41F5-2566-BC67619FE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448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CC00C-7C54-D98E-98D7-BF49BF0F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842FEACD-B880-A4EB-0FB0-F0FE6E6A2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DD67D4-DF98-D344-97B7-D1E39BBD7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96" y="1323974"/>
            <a:ext cx="9064304" cy="50695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ED02A9-7759-A1C5-E9EA-C968176EB57C}"/>
              </a:ext>
            </a:extLst>
          </p:cNvPr>
          <p:cNvSpPr txBox="1"/>
          <p:nvPr/>
        </p:nvSpPr>
        <p:spPr>
          <a:xfrm>
            <a:off x="830844" y="314026"/>
            <a:ext cx="10698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</p:spTree>
    <p:extLst>
      <p:ext uri="{BB962C8B-B14F-4D97-AF65-F5344CB8AC3E}">
        <p14:creationId xmlns:p14="http://schemas.microsoft.com/office/powerpoint/2010/main" val="3480480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B7105-7B78-58DA-6378-C3C2E3E2C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B6472244-8864-4CB0-2C8B-4F59B9F3A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47C422-C992-9BD4-3C7B-3FC302A8D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96" y="1323974"/>
            <a:ext cx="9064304" cy="50695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77597E-89AD-5876-914A-B4D5F6B6C1AD}"/>
              </a:ext>
            </a:extLst>
          </p:cNvPr>
          <p:cNvSpPr txBox="1"/>
          <p:nvPr/>
        </p:nvSpPr>
        <p:spPr>
          <a:xfrm>
            <a:off x="830844" y="314026"/>
            <a:ext cx="10698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9F0CF-8406-262D-0EE3-A00F066E4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660" y="1006119"/>
            <a:ext cx="9734044" cy="538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781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FB226-5F8B-8604-CFBB-25EBFEFB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2F91685E-537D-FBDF-48FC-8B37CFC65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8">
            <a:extLst>
              <a:ext uri="{FF2B5EF4-FFF2-40B4-BE49-F238E27FC236}">
                <a16:creationId xmlns:a16="http://schemas.microsoft.com/office/drawing/2014/main" id="{B5D8CC24-BE2E-9E3A-8162-D8B05D45A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DE9FE7F-DAF5-5516-EDCE-66E7BDD6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20597C-AF0E-387B-CA3D-F2A17E200E03}"/>
              </a:ext>
            </a:extLst>
          </p:cNvPr>
          <p:cNvSpPr txBox="1"/>
          <p:nvPr/>
        </p:nvSpPr>
        <p:spPr>
          <a:xfrm>
            <a:off x="695539" y="908026"/>
            <a:ext cx="1017040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core component of the system. It combines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microcontroller, camera interface, and Wi-Fi connectivity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single compact module.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the project: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images of visitors.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detection processing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images and alerts to the homeowner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using Wi-Fi.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Wi-Fi and Bluetooth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OV2640 camera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IoT applications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AE3626-CCB9-3178-9917-1D27CDF5F4FE}"/>
              </a:ext>
            </a:extLst>
          </p:cNvPr>
          <p:cNvSpPr txBox="1"/>
          <p:nvPr/>
        </p:nvSpPr>
        <p:spPr>
          <a:xfrm>
            <a:off x="695539" y="237826"/>
            <a:ext cx="10698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 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B4BA912-3DFE-FE50-0768-E095F1794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950" y="2686051"/>
            <a:ext cx="4486275" cy="336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955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92E980A7-41E1-8E14-FB7B-0F32ADEA0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8">
            <a:extLst>
              <a:ext uri="{FF2B5EF4-FFF2-40B4-BE49-F238E27FC236}">
                <a16:creationId xmlns:a16="http://schemas.microsoft.com/office/drawing/2014/main" id="{CD4A07EF-B030-33C6-E631-24F9B4EBB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DB20D928-DC35-B289-61BA-160909128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ACA3AE-2F8F-B6F6-F7A7-7E01DA8F8601}"/>
              </a:ext>
            </a:extLst>
          </p:cNvPr>
          <p:cNvSpPr txBox="1"/>
          <p:nvPr/>
        </p:nvSpPr>
        <p:spPr>
          <a:xfrm>
            <a:off x="695539" y="1212827"/>
            <a:ext cx="1017040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Camera Sensor (OV2640)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OV2640 camera sensor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images of the person standing near the door.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the project: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pictures when motion is detected or the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doorbell is pressed.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image data to the ESP32-CAM for processing.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2-megapixel camera sensor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JPEG compression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image capture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0939E9-DA36-55FD-015D-B86DDD38B81A}"/>
              </a:ext>
            </a:extLst>
          </p:cNvPr>
          <p:cNvSpPr txBox="1"/>
          <p:nvPr/>
        </p:nvSpPr>
        <p:spPr>
          <a:xfrm>
            <a:off x="695539" y="237826"/>
            <a:ext cx="10698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 </a:t>
            </a:r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5B336A8E-EDD2-03DC-975F-E77BF249B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720" b="95280" l="10000" r="90000">
                        <a14:foregroundMark x1="19200" y1="6720" x2="23520" y2="8000"/>
                        <a14:foregroundMark x1="67520" y1="91440" x2="79840" y2="84880"/>
                        <a14:foregroundMark x1="79840" y1="84880" x2="80320" y2="84240"/>
                        <a14:foregroundMark x1="79440" y1="82720" x2="74000" y2="85360"/>
                        <a14:foregroundMark x1="82480" y1="86000" x2="77280" y2="86640"/>
                        <a14:foregroundMark x1="81600" y1="84880" x2="75760" y2="86640"/>
                        <a14:foregroundMark x1="67520" y1="95280" x2="73120" y2="914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087" y="2447925"/>
            <a:ext cx="4397213" cy="439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890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1EA68-6FF7-0C52-E42E-9080987F2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DF495AB4-80A4-7709-1094-0169A2998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8">
            <a:extLst>
              <a:ext uri="{FF2B5EF4-FFF2-40B4-BE49-F238E27FC236}">
                <a16:creationId xmlns:a16="http://schemas.microsoft.com/office/drawing/2014/main" id="{571A8564-08E4-D940-AF46-EEE1B134A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BB2DA643-8B83-9773-1C11-A3C577B1E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B58AF3-65A4-AF16-3E1E-D2AA4A2F251C}"/>
              </a:ext>
            </a:extLst>
          </p:cNvPr>
          <p:cNvSpPr txBox="1"/>
          <p:nvPr/>
        </p:nvSpPr>
        <p:spPr>
          <a:xfrm>
            <a:off x="505039" y="822601"/>
            <a:ext cx="1184888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Board (Arduino Uno)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development environment used to program the ESP32-CAM.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platform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controlling electronic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sensors, buttons, LEDs, and other hardware modules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developing embedded applications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integrating with advanced modules like ESP32-CAM.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ATmega328P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Voltage: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I/O Pins: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14 (6 PWM pins)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Input Pins: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Memory: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 KB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Speed: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 MHz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Interface: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programming and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communication.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7E43C-367B-7EA8-21B8-5468915EF4B6}"/>
              </a:ext>
            </a:extLst>
          </p:cNvPr>
          <p:cNvSpPr txBox="1"/>
          <p:nvPr/>
        </p:nvSpPr>
        <p:spPr>
          <a:xfrm>
            <a:off x="695539" y="237826"/>
            <a:ext cx="10698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4783102-5070-4D63-D70E-E115E5FFB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293" y="3123616"/>
            <a:ext cx="4676668" cy="3601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505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5CB0-8D51-2CE4-D669-280C2CD68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666EC992-83F0-11CE-90ED-FB7D9DE2A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8">
            <a:extLst>
              <a:ext uri="{FF2B5EF4-FFF2-40B4-BE49-F238E27FC236}">
                <a16:creationId xmlns:a16="http://schemas.microsoft.com/office/drawing/2014/main" id="{2F357F55-E6ED-69E5-48DF-48681ED96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77160229-6633-94DC-E960-79D404A94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45BD4-D756-4A04-68DE-370F7D0A31D9}"/>
              </a:ext>
            </a:extLst>
          </p:cNvPr>
          <p:cNvSpPr txBox="1"/>
          <p:nvPr/>
        </p:nvSpPr>
        <p:spPr>
          <a:xfrm>
            <a:off x="695539" y="1212827"/>
            <a:ext cx="101704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Arduino IDE (Software Tool)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development environment used to program the ESP32-CAM.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the project: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and editing program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Compiling and uploading code to ESP32.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system output through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monitor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used: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C / Arduino language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6A8A0-AFE8-DE30-7268-A7DA19E14CC6}"/>
              </a:ext>
            </a:extLst>
          </p:cNvPr>
          <p:cNvSpPr txBox="1"/>
          <p:nvPr/>
        </p:nvSpPr>
        <p:spPr>
          <a:xfrm>
            <a:off x="695539" y="237826"/>
            <a:ext cx="10698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1FA09C-509C-9BAC-559F-F63D28540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448" y="2595366"/>
            <a:ext cx="4243984" cy="324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518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39D4-0F36-6352-3085-007FD3B7F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292B663B-D2BA-23E4-A395-8DEE0947D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8">
            <a:extLst>
              <a:ext uri="{FF2B5EF4-FFF2-40B4-BE49-F238E27FC236}">
                <a16:creationId xmlns:a16="http://schemas.microsoft.com/office/drawing/2014/main" id="{311FBBBF-9C14-6F9F-8DFC-41814D2B5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3591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14A585DB-89FE-64F3-EFE1-D183C4B1B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33591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E52D80-7ECE-59DD-5FA3-B6F2E4DB28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50" y="624028"/>
            <a:ext cx="5218176" cy="54666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36568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9BCF9-DEC4-13EE-ABFE-E7336BD51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8029A666-0828-6D0D-4D5C-3BBC9F1E4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8">
            <a:extLst>
              <a:ext uri="{FF2B5EF4-FFF2-40B4-BE49-F238E27FC236}">
                <a16:creationId xmlns:a16="http://schemas.microsoft.com/office/drawing/2014/main" id="{80DD7416-189D-E9D2-0D8B-66EAB113A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3591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50097166-8C96-9E0C-AADC-BD9D0D747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33591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384E4-EE05-43C4-3431-2782965C9614}"/>
              </a:ext>
            </a:extLst>
          </p:cNvPr>
          <p:cNvSpPr txBox="1"/>
          <p:nvPr/>
        </p:nvSpPr>
        <p:spPr>
          <a:xfrm>
            <a:off x="695539" y="237826"/>
            <a:ext cx="10698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</a:t>
            </a:r>
            <a:r>
              <a:rPr lang="en-US" sz="3200" b="1" dirty="0"/>
              <a:t> OUTCOME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3DB89C-89CE-DF5F-A31B-5325B92B0C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49" y="1060427"/>
            <a:ext cx="4581906" cy="53557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7755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929F7F1-EB55-33AB-27A4-E797C42E0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b="1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12" name="Graphic 11" descr="Handshake">
            <a:extLst>
              <a:ext uri="{FF2B5EF4-FFF2-40B4-BE49-F238E27FC236}">
                <a16:creationId xmlns:a16="http://schemas.microsoft.com/office/drawing/2014/main" id="{FB1C9B75-7357-448D-CF80-A1311ABB25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4" descr="A logo with a flower&#10;&#10;Description automatically generated">
            <a:extLst>
              <a:ext uri="{FF2B5EF4-FFF2-40B4-BE49-F238E27FC236}">
                <a16:creationId xmlns:a16="http://schemas.microsoft.com/office/drawing/2014/main" id="{92E980A7-41E1-8E14-FB7B-0F32ADEA0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940" y="0"/>
            <a:ext cx="1326060" cy="124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607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1816</TotalTime>
  <Words>1271</Words>
  <Application>Microsoft Office PowerPoint</Application>
  <PresentationFormat>Widescreen</PresentationFormat>
  <Paragraphs>191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Söhne</vt:lpstr>
      <vt:lpstr>Times New Roman</vt:lpstr>
      <vt:lpstr>Office Theme</vt:lpstr>
      <vt:lpstr>PowerPoint Presentation</vt:lpstr>
      <vt:lpstr>Vision:</vt:lpstr>
      <vt:lpstr>INDEX</vt:lpstr>
      <vt:lpstr>PROJECT DEFINITION</vt:lpstr>
      <vt:lpstr>OBJECTIVE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CMR Technical Campus Department of CSE</dc:title>
  <dc:creator>Nuthanakanti Bhaskar</dc:creator>
  <cp:lastModifiedBy>anand kasoju</cp:lastModifiedBy>
  <cp:revision>93</cp:revision>
  <dcterms:created xsi:type="dcterms:W3CDTF">2024-03-18T08:59:45Z</dcterms:created>
  <dcterms:modified xsi:type="dcterms:W3CDTF">2026-04-17T04:36:05Z</dcterms:modified>
</cp:coreProperties>
</file>